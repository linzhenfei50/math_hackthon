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4" r:id="rId9"/>
    <p:sldId id="267" r:id="rId10"/>
    <p:sldId id="269" r:id="rId11"/>
    <p:sldId id="271" r:id="rId12"/>
    <p:sldId id="272" r:id="rId13"/>
    <p:sldId id="274" r:id="rId14"/>
  </p:sldIdLst>
  <p:sldSz cx="12191365" cy="6858000" type="screen4x3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2609" cy="41148"/>
          </a:xfrm>
          <a:prstGeom prst="rect">
            <a:avLst/>
          </a:prstGeom>
          <a:solidFill>
            <a:srgbClr val="3D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12648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12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数学建模 × AI 赛道 · 现场路演</a:t>
            </a:r>
            <a:endParaRPr sz="115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Glance-SAHI</a:t>
            </a:r>
            <a:endParaRPr sz="52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2066543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先扫一眼全图，</a:t>
            </a:r>
            <a:endParaRPr sz="260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只切可疑区域</a:t>
            </a:r>
            <a:endParaRPr sz="260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218688"/>
            <a:ext cx="5760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Content-Aware Slice Selection for Training-Free Small Object Detection in High-Resolution Aerial Imagery</a:t>
            </a:r>
            <a:endParaRPr sz="1250" b="0" i="0">
              <a:solidFill>
                <a:srgbClr val="4A55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3950208"/>
            <a:ext cx="777240" cy="411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57607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从「全切」到「按需切片」，再到「让机器学选片」</a:t>
            </a:r>
            <a:r>
              <a:rPr lang="zh-CN" sz="145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，再到检测器优化</a:t>
            </a:r>
            <a:endParaRPr lang="zh-CN" sz="145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5138928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138928"/>
            <a:ext cx="12755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为什么改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42516" y="5138928"/>
            <a:ext cx="2194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0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61972" y="5138928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1972" y="5138928"/>
            <a:ext cx="12755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改了什么</a:t>
            </a:r>
            <a:endParaRPr sz="10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37560" y="5138928"/>
            <a:ext cx="2194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0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557016" y="5138928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5138928"/>
            <a:ext cx="12755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结果如何</a:t>
            </a:r>
            <a:endParaRPr sz="10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32604" y="5138928"/>
            <a:ext cx="2194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0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52060" y="5138928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2060" y="5138928"/>
            <a:ext cx="12755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有什么价值</a:t>
            </a:r>
            <a:endParaRPr sz="10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image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612648"/>
            <a:ext cx="5431536" cy="18375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82512" y="2523744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真实运行 · VisDrone 街景：左 SAHI 全切 15 片｜右 Glance 只切 4 片。278 → 111 ms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82512" y="2944368"/>
            <a:ext cx="5431536" cy="3035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072384"/>
            <a:ext cx="50657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本次路演的三条创新点 · 一条证据链</a:t>
            </a:r>
            <a:endParaRPr sz="135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65392" y="340156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4015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04304" y="337413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从「全切」到「按需切片」</a:t>
            </a:r>
            <a:endParaRPr sz="12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04304" y="363016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两路证据 + noisy-OR：少跑 21% 切片，AP 只掉 0.13</a:t>
            </a:r>
            <a:endParaRPr sz="10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65392" y="424281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2428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04304" y="421538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选片规则不手写，让机器学</a:t>
            </a:r>
            <a:endParaRPr sz="12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04304" y="447141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「增量标签」学 23 参数路由器：50% 切片追平全切</a:t>
            </a:r>
            <a:endParaRPr sz="10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65392" y="508406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50840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04304" y="505663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检测器优化</a:t>
            </a:r>
            <a:endParaRPr lang="zh-CN" sz="12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04304" y="53126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 +19 点后</a:t>
            </a:r>
            <a:r>
              <a:rPr lang="zh-CN" sz="10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学出来的门稳</a:t>
            </a:r>
            <a:endParaRPr sz="10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13048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400" b="1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066543"/>
            <a:ext cx="566928" cy="41148"/>
          </a:xfrm>
          <a:prstGeom prst="rect">
            <a:avLst/>
          </a:prstGeom>
          <a:solidFill>
            <a:srgbClr val="C9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三个创新点，每个都沿同一条</a:t>
            </a:r>
            <a:endParaRPr sz="1500" b="0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证据链展开：四问四答，</a:t>
            </a:r>
            <a:endParaRPr sz="1500" b="0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全部有对比数据支撑。</a:t>
            </a:r>
            <a:endParaRPr sz="1500" b="0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4379976" y="777240"/>
            <a:ext cx="72694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2"/>
            </p:custDataLst>
          </p:nvPr>
        </p:nvSpPr>
        <p:spPr>
          <a:xfrm>
            <a:off x="4626864" y="1289304"/>
            <a:ext cx="694944" cy="694944"/>
          </a:xfrm>
          <a:prstGeom prst="roundRect">
            <a:avLst>
              <a:gd name="adj" fmla="val 1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4626864" y="1289304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5532120" y="1033271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 · 从「全切」到「按需切片」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5532120" y="1435607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SAHI 八成算力在跑空切片；两路证据 + noisy-OR 选片，VisDrone 少跑 21% 切片、AP 只掉 0.13。</a:t>
            </a:r>
            <a:endParaRPr sz="12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0561320" y="1033271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 – P8</a:t>
            </a:r>
            <a:endParaRPr sz="1050" b="1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4379976" y="2734056"/>
            <a:ext cx="72694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8"/>
            </p:custDataLst>
          </p:nvPr>
        </p:nvSpPr>
        <p:spPr>
          <a:xfrm>
            <a:off x="4626864" y="3246120"/>
            <a:ext cx="694944" cy="694944"/>
          </a:xfrm>
          <a:prstGeom prst="roundRect">
            <a:avLst>
              <a:gd name="adj" fmla="val 1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626864" y="324612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5532120" y="2990088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创新点二 · 规则不手写，让机器学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532120" y="339242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手写公式三个毛病都有数据；用「增量标签」学 23 参数路由器，50% 切片 AP 追平全切。</a:t>
            </a:r>
            <a:endParaRPr sz="12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10561320" y="2990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 – P13</a:t>
            </a:r>
            <a:endParaRPr sz="1050" b="1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4379976" y="4690872"/>
            <a:ext cx="72694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14"/>
            </p:custDataLst>
          </p:nvPr>
        </p:nvSpPr>
        <p:spPr>
          <a:xfrm>
            <a:off x="4626864" y="5202936"/>
            <a:ext cx="694944" cy="694944"/>
          </a:xfrm>
          <a:prstGeom prst="roundRect">
            <a:avLst>
              <a:gd name="adj" fmla="val 18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4626864" y="5202936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6"/>
            </p:custDataLst>
          </p:nvPr>
        </p:nvSpPr>
        <p:spPr>
          <a:xfrm>
            <a:off x="5532120" y="4946904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创新点三 ·</a:t>
            </a:r>
            <a:r>
              <a:rPr lang="zh-CN"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检测器优化</a:t>
            </a:r>
            <a:endParaRPr lang="zh-CN"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7"/>
            </p:custDataLst>
          </p:nvPr>
        </p:nvSpPr>
        <p:spPr>
          <a:xfrm>
            <a:off x="5532120" y="5349240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检测器 +19 点后：手写公式当场饱和崩掉，学出来的路由器照样省一半不掉点。</a:t>
            </a:r>
            <a:endParaRPr sz="12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10561320" y="494690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P14 – P17</a:t>
            </a:r>
            <a:endParaRPr sz="1050" b="1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6"/>
          <p:cNvSpPr/>
          <p:nvPr/>
        </p:nvSpPr>
        <p:spPr>
          <a:xfrm>
            <a:off x="793623" y="5975604"/>
            <a:ext cx="11430000" cy="96012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7"/>
          <p:cNvSpPr txBox="1"/>
          <p:nvPr/>
        </p:nvSpPr>
        <p:spPr>
          <a:xfrm>
            <a:off x="3783711" y="6042914"/>
            <a:ext cx="11027664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8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三个创新点环环相扣：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一解决「算力浪费」，二解决「规则从哪来」，三用强检测器反向证明二的必要性。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371600"/>
            <a:ext cx="4005072" cy="4005072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4005072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482803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01 · 创新点一</a:t>
            </a:r>
            <a:endParaRPr sz="1250" b="1" i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0952" y="1481328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 · INNOVATION 01</a:t>
            </a:r>
            <a:endParaRPr sz="15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952" y="1847088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从「全切」到「按需切片」</a:t>
            </a:r>
            <a:endParaRPr sz="33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0952" y="3017520"/>
            <a:ext cx="777240" cy="411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320040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SAHI 的浪费是可量化的：最坏情况下，八成算力在跑完全没东西的图块。</a:t>
            </a:r>
            <a:endParaRPr sz="15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30952" y="3950208"/>
            <a:ext cx="6309360" cy="1645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4114800"/>
            <a:ext cx="59436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两路证据 + noisy-OR 融合，把弱证据攒成「值得细看」的分数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VisDrone 548 张：少跑 21% 切片，AP 只掉 0.13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30952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86016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0184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41080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85248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296144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</a:t>
            </a:r>
            <a:endParaRPr sz="11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为什么改：SAHI 的浪费是可量化的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8376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54496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78824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19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84048" y="1426464"/>
            <a:ext cx="36850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153619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7.1%</a:t>
            </a:r>
            <a:endParaRPr sz="34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" y="21396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VisDrone · 每图 7.80 片中的空切片</a:t>
            </a:r>
            <a:endParaRPr sz="11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216" y="241401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密集城市航拍——对我们最不利的场景</a:t>
            </a:r>
            <a:endParaRPr sz="100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51960" y="1426464"/>
            <a:ext cx="36850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53619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82.1%</a:t>
            </a:r>
            <a:endParaRPr sz="34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3128" y="21396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DOTA（7.0 MP）· 空切片占比</a:t>
            </a:r>
            <a:endParaRPr sz="11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53128" y="241401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上界显示最多可省 82%</a:t>
            </a:r>
            <a:endParaRPr sz="100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9872" y="1426464"/>
            <a:ext cx="36850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36192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87.3%</a:t>
            </a:r>
            <a:endParaRPr sz="34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21040" y="21396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4K 稀疏画布 · 目标仅占 1.4% 面积</a:t>
            </a:r>
            <a:endParaRPr sz="1150" b="1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241401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SAHI 仍恒定切 60 片 / 图</a:t>
            </a:r>
            <a:endParaRPr sz="100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80944"/>
            <a:ext cx="6675120" cy="25519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4048" y="5614416"/>
            <a:ext cx="6675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图：4K 受控实验——目标面积占比 1.4%→9.3%，空切片 87.3%→16.2%；同 55% 预算下边缘先验覆盖 97.5% 目标，随机仅 69.6%（k=1, θ=0.6）。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16495" y="327406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7663" y="3346450"/>
            <a:ext cx="4078224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8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最坏情况下，八成算力在跑完全没东西的图块。</a:t>
            </a:r>
            <a:r>
              <a:rPr sz="12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可省比例 ≈ 空切片比例——图越大、画面越空，越值得改。</a:t>
            </a:r>
            <a:endParaRPr sz="12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4048" y="63459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 REPORT §1.2 / §3.7 / §3.10、results/sparsity_summary.csv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19</a:t>
            </a:r>
            <a:endParaRPr sz="10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</a:t>
            </a:r>
            <a:endParaRPr sz="11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改了什么：先扫一眼，只细看可疑切片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8376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54496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78824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19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6" descr="flow_princi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" y="2117725"/>
            <a:ext cx="12044680" cy="30111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4048" y="63459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 REPORT §2.1–§2.3、results/e2e.csv（RTX 3050 计时）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19</a:t>
            </a:r>
            <a:endParaRPr sz="10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</a:t>
            </a:r>
            <a:endParaRPr sz="11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结果如何：VisDrone 548 张，同检测器、同网格、同 NMS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8376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54496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78824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19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4048" y="1389888"/>
          <a:ext cx="1143000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1280160"/>
                <a:gridCol w="1188720"/>
                <a:gridCol w="1691640"/>
                <a:gridCol w="1417320"/>
                <a:gridCol w="1463040"/>
                <a:gridCol w="1508760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切片比例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ms/图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AP_small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小目标覆盖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ΔAP vs 全切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整图直接推理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44.8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20.03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9.30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−8.37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SAHI 全切（基线）</a:t>
                      </a:r>
                      <a:endParaRPr sz="1050" b="1">
                        <a:solidFill>
                          <a:srgbClr val="0E3F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215.0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28.40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17.88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Glance θ=0.9（默认）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189.6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28.27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17.75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95.8%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−0.13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Glance θ=0.99（激进）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62.9%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147.3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27.90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17.46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92.6%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−0.50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8EF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随机选同数量（对 79%）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179.6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27.58 ± 0.05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16.96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91.1%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−0.82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随机选同数量（对 63%）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62.9%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147.1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26.64 ± 0.06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16.03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82.9%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−1.76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DF6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Oracle（按真值选片）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76.2%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177.1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28.54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18.15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100%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+0.14</a:t>
                      </a:r>
                      <a:endParaRPr sz="105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1338580" y="3945255"/>
            <a:ext cx="9268460" cy="14814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243" y="40313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换到大幅面遥感 DOTA（458 张）</a:t>
            </a:r>
            <a:endParaRPr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38605" y="4478020"/>
            <a:ext cx="1009269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切片 −42%</a:t>
            </a:r>
            <a:r>
              <a:rPr sz="16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，耗时 1297 → 837 ms（提速 35%）；AP 2.53 → 2.61 不降反升，目标覆盖 95.5%</a:t>
            </a:r>
            <a:endParaRPr sz="16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6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同数量随机选片：覆盖率仅 86.0%——</a:t>
            </a:r>
            <a:r>
              <a:rPr sz="16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省下的确实是「对的」切片，不是运气</a:t>
            </a:r>
            <a:endParaRPr sz="16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4048" y="63459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 results/sweep.csv、e2e.csv、strong.csv；AP 为每图前 100 框口径，区间为按图配对 bootstrap 95%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19</a:t>
            </a:r>
            <a:endParaRPr sz="10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371600"/>
            <a:ext cx="4005072" cy="4005072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4005072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482803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02 · 创新点二</a:t>
            </a:r>
            <a:endParaRPr sz="1250" b="1" i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0952" y="1481328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创新点二 · INNOVATION 02</a:t>
            </a:r>
            <a:endParaRPr sz="150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952" y="1847088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选片的规则，不该人来定，该让机器学</a:t>
            </a:r>
            <a:endParaRPr sz="25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0952" y="3017520"/>
            <a:ext cx="777240" cy="4114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320040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手写公式有三个毛病，每个都有数据撑腰。</a:t>
            </a:r>
            <a:endParaRPr sz="15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30952" y="3950208"/>
            <a:ext cx="6309360" cy="1645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4114800"/>
            <a:ext cx="59436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毛病 1｜换个场景就失灵：DOTA 上 λ 从 0.3 硬拉到 1.0 才能用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毛病 2｜问的问题问错了：「有没有目标」≠「有没有增量」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毛病 3｜检测器一变强就崩（创新点三给出量化证据）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30952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86016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0184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41080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85248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296144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4048" y="5800725"/>
            <a:ext cx="11430000" cy="512064"/>
          </a:xfrm>
          <a:prstGeom prst="roundRect">
            <a:avLst>
              <a:gd name="adj" fmla="val 12000"/>
            </a:avLst>
          </a:prstGeom>
          <a:solidFill>
            <a:srgbClr val="10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5800725"/>
            <a:ext cx="110276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8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原公式　</a:t>
            </a:r>
            <a:r>
              <a:rPr sz="13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 = 1 − (1 − S_det)(1 − λ·S_img)</a:t>
            </a:r>
            <a:r>
              <a:rPr sz="12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——λ 和 θ 都得人拍脑袋调；θ=0.9 只是「片内证据量」的代名词。</a:t>
            </a:r>
            <a:endParaRPr sz="12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创新点二</a:t>
            </a:r>
            <a:endParaRPr sz="110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结果如何：学出来的 vs 手写的 vs 随机的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38988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切片打分质量（VisDrone 留出 274 张）</a:t>
            </a:r>
            <a:endParaRPr sz="125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84048" y="1682496"/>
          <a:ext cx="5394960" cy="1353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234440"/>
                <a:gridCol w="123444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打分方式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PR-AUC 排序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ECE 标定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手写公式</a:t>
                      </a:r>
                      <a:endParaRPr sz="10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0.758</a:t>
                      </a:r>
                      <a:endParaRPr sz="100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0.319</a:t>
                      </a:r>
                      <a:endParaRPr sz="100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学出来的（增量标签）</a:t>
                      </a:r>
                      <a:endParaRPr sz="10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0.899</a:t>
                      </a:r>
                      <a:endParaRPr sz="100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0.055</a:t>
                      </a:r>
                      <a:endParaRPr sz="100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学，但改回「有没有目标」</a:t>
                      </a:r>
                      <a:endParaRPr sz="10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0.613</a:t>
                      </a:r>
                      <a:endParaRPr sz="100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0.157</a:t>
                      </a:r>
                      <a:endParaRPr sz="100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35040" y="1389888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端到端 AP / AP_small（留出集，同一检测器）</a:t>
            </a:r>
            <a:endParaRPr sz="125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035040" y="1682496"/>
          <a:ext cx="576071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170432"/>
                <a:gridCol w="1170432"/>
                <a:gridCol w="1042415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只让切多少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手写公式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学出来的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全切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 27%</a:t>
                      </a:r>
                      <a:endParaRPr sz="9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25.16 / 15.53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27.42 / 18.20</a:t>
                      </a:r>
                      <a:endParaRPr sz="95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23.32 / 13.13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28.52 / 18.11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 50%</a:t>
                      </a:r>
                      <a:endParaRPr sz="9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27.21 / 17.01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28.54 / 18.54</a:t>
                      </a:r>
                      <a:endParaRPr sz="95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25.54 / 15.19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28.52 / 18.11</a:t>
                      </a:r>
                      <a:endParaRPr sz="9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fig12_rou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310128"/>
            <a:ext cx="6309360" cy="24185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4048" y="57607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同预算精度曲线：可学习路由（蓝）全程压住手工门（橙）与随机（灰虚线）；标签换成「有没有目标」（粉点线）后掉到随机以下。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03720" y="3310128"/>
            <a:ext cx="49103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3438144"/>
            <a:ext cx="45445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两条要记住的话</a:t>
            </a:r>
            <a:endParaRPr sz="135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675887"/>
            <a:ext cx="457200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只跑一半切片，AP 28.54 比全切 28.52 还高一点</a:t>
            </a:r>
            <a:r>
              <a:rPr sz="10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（bootstrap：AP +0.02 区间跨 0；AP_small +0.43 区间全为正）——算力砍一半，白嫖。</a:t>
            </a:r>
            <a:endParaRPr sz="10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05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把目标换回「有没有目标」只剩 22.30，比瞎随机（23.32）还差</a:t>
            </a:r>
            <a:r>
              <a:rPr sz="10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——「学什么」比「怎么学」重要得多。</a:t>
            </a:r>
            <a:endParaRPr sz="10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048" y="63459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 results/router_metrics.csv、router_holdout.csv、figures/fig12_router.png（留出集 274 张）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19</a:t>
            </a:r>
            <a:endParaRPr sz="1000" b="1" i="0">
              <a:solidFill>
                <a:srgbClr val="0E7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05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371600"/>
            <a:ext cx="4005072" cy="4005072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4005072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B3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0" b="1" i="0">
              <a:solidFill>
                <a:srgbClr val="5B3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482803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03 · 创新点三</a:t>
            </a:r>
            <a:endParaRPr sz="1250" b="1" i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0952" y="1481328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3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创新点三 · INNOVATION 03</a:t>
            </a:r>
            <a:endParaRPr sz="1500" b="1" i="0">
              <a:solidFill>
                <a:srgbClr val="5B3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0952" y="1847088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优化检测器</a:t>
            </a:r>
            <a:endParaRPr lang="zh-CN" sz="25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0952" y="3017520"/>
            <a:ext cx="777240" cy="41148"/>
          </a:xfrm>
          <a:prstGeom prst="rect">
            <a:avLst/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320040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前面一直故意不训练检测器——但这留了个漏洞，必须补上。</a:t>
            </a:r>
            <a:endParaRPr sz="155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30952" y="3950208"/>
            <a:ext cx="6309360" cy="1645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4114800"/>
            <a:ext cx="59436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怕说不清「省下来的算力」到底是选片的功劳还是训练的作用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万一「能省一半」只是因为检测器太菜、本来就白跑呢？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办法：把检测器练强 19 个点，整套实验重做一遍</a:t>
            </a:r>
            <a:endParaRPr sz="125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30952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86016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0184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41080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85248" y="5870448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296144" y="58704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5870448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3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创新点三</a:t>
            </a:r>
            <a:endParaRPr sz="1100" b="1" i="0">
              <a:solidFill>
                <a:srgbClr val="5B3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结果如何：强检测器下，手写公式崩了，学出来的稳了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为什么改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8376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改了什么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54496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结果如何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78824" y="932688"/>
            <a:ext cx="31089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7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50" b="0" i="0">
              <a:solidFill>
                <a:srgbClr val="9AA7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19" y="932688"/>
            <a:ext cx="262432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932688"/>
            <a:ext cx="26243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有什么价值</a:t>
            </a:r>
            <a:endParaRPr sz="11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46200" y="1561465"/>
          <a:ext cx="9265920" cy="4194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1945"/>
                <a:gridCol w="2567305"/>
                <a:gridCol w="2566670"/>
              </a:tblGrid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指标（VisDrone 留出集）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 COCO 检测器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微调后（+19 点）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0E3F8C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全切精度 AP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28.52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47.40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手写公式 · 平均分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0.889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0.942（饱和）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手写公式 · ECE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B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0.319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BED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0.611（崩）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BEDEC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学出的路由 · ECE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0.055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0.036（稳）</a:t>
                      </a:r>
                      <a:endParaRPr sz="105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EDF7F5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学出的路由 · 平均分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0.571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0.360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只跑一半切片 AP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28.54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9F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47.37（−0.03）</a:t>
                      </a:r>
                      <a:endParaRPr sz="1050" b="1">
                        <a:solidFill>
                          <a:srgbClr val="0E9F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3EFF9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同样一半、瞎随机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25.54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 ~ 44.1</a:t>
                      </a:r>
                      <a:endParaRPr sz="1050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660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Oracle 上界</a:t>
                      </a:r>
                      <a:endParaRPr sz="10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+0.11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+0.14</a:t>
                      </a:r>
                      <a:endParaRPr sz="1050" b="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4048" y="63459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 results/visdrone_ft/router_metrics_ft.csv、router_holdout_ft.csv、figures/fig12_router_ft.png</a:t>
            </a:r>
            <a:endParaRPr sz="950" b="0" i="0">
              <a:solidFill>
                <a:srgbClr val="5F6B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3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19</a:t>
            </a:r>
            <a:endParaRPr sz="1000" b="1" i="0">
              <a:solidFill>
                <a:srgbClr val="5B3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758952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423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4231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 束</a:t>
            </a:r>
            <a:endParaRPr sz="11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两句话带走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2708148"/>
            <a:ext cx="1143000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92760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92760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2891028"/>
            <a:ext cx="101498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选片这件事别写公式，学它</a:t>
            </a:r>
            <a:r>
              <a:rPr sz="15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——关键是学「有没有增量」而不是「有没有目标」。</a:t>
            </a:r>
            <a:endParaRPr sz="15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效果从 27.21 提到 28.54（直接追平不省的全切），代价只有 23 个参数。</a:t>
            </a:r>
            <a:endParaRPr sz="14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4048" y="4518660"/>
            <a:ext cx="1143000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47381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7381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4701540"/>
            <a:ext cx="101498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B3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把检测器练强 19 个点之后，「省一半不掉点」照样成立</a:t>
            </a:r>
            <a:r>
              <a:rPr sz="15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（47.37 vs 47.40）。</a:t>
            </a:r>
            <a:endParaRPr sz="15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而手写公式当场崩掉（ECE 0.611）——这条反向证明了二是有必要的，而不是锦上添花。</a:t>
            </a:r>
            <a:endParaRPr sz="14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19</a:t>
            </a:r>
            <a:endParaRPr sz="1000" b="1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5"/>
          <p:cNvSpPr/>
          <p:nvPr/>
        </p:nvSpPr>
        <p:spPr>
          <a:xfrm>
            <a:off x="377698" y="977773"/>
            <a:ext cx="1143000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Rounded Rectangle 6"/>
          <p:cNvSpPr/>
          <p:nvPr/>
        </p:nvSpPr>
        <p:spPr>
          <a:xfrm>
            <a:off x="615442" y="1197229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TextBox 7"/>
          <p:cNvSpPr txBox="1"/>
          <p:nvPr/>
        </p:nvSpPr>
        <p:spPr>
          <a:xfrm>
            <a:off x="615442" y="1197229"/>
            <a:ext cx="566928" cy="566928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anchor="ctr">
            <a:noAutofit/>
          </a:bodyPr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1410970" y="1160653"/>
            <a:ext cx="101498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从「全切」到「按需切片」</a:t>
            </a:r>
            <a:r>
              <a:rPr sz="15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——关键是</a:t>
            </a:r>
            <a:r>
              <a:rPr lang="zh-CN" sz="1500" b="0" i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优化切片方法</a:t>
            </a:r>
            <a:endParaRPr sz="15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两路证据 + noisy-OR 融合，把弱证据攒成「值得细看」的分数</a:t>
            </a:r>
            <a:endParaRPr sz="14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4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VisDrone 548 张：少跑 21% 切片，AP 只掉 0.13</a:t>
            </a:r>
            <a:endParaRPr sz="1400" b="0" i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14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6095" y="6226810"/>
            <a:ext cx="5173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网页演示：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C9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4248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GLANCE-SAHI · 先扫一眼，再细看</a:t>
            </a:r>
            <a:endParaRPr sz="1400" b="1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7048" y="126187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别把算力花在空旷的天空和屋顶上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0" y="2121408"/>
            <a:ext cx="777240" cy="41148"/>
          </a:xfrm>
          <a:prstGeom prst="rect">
            <a:avLst/>
          </a:prstGeom>
          <a:solidFill>
            <a:srgbClr val="C9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298448" y="26060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−21%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98448" y="35478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VisDrone 切片（手工门）</a:t>
            </a:r>
            <a:endParaRPr sz="1300" b="1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298448" y="3822191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B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 仅 −0.13，随机同数量 −0.82</a:t>
            </a:r>
            <a:endParaRPr sz="1100" b="0" i="0">
              <a:solidFill>
                <a:srgbClr val="8FB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544568" y="26060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98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−50%</a:t>
            </a:r>
            <a:endParaRPr sz="4600" b="1" i="0">
              <a:solidFill>
                <a:srgbClr val="C982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544568" y="35478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切片（可学习路由）</a:t>
            </a:r>
            <a:endParaRPr sz="1300" b="1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544568" y="3822191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B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 28.54 = 全切 28.52，23 个参数</a:t>
            </a:r>
            <a:endParaRPr sz="1100" b="0" i="0">
              <a:solidFill>
                <a:srgbClr val="8FB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790688" y="26060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47.37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7790688" y="35478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强检测器下 50% 切片</a:t>
            </a:r>
            <a:endParaRPr sz="1300" b="1" i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7790688" y="3822191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B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全切 47.40；手写公式当场崩（ECE 0.611）</a:t>
            </a:r>
            <a:endParaRPr sz="1100" b="0" i="0">
              <a:solidFill>
                <a:srgbClr val="8FB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5848" y="452628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 · 欢迎提问</a:t>
            </a:r>
            <a:endParaRPr sz="3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FB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数据、代码与全部对比实验可复现 · 现场 Demo：python app.py</a:t>
            </a:r>
            <a:endParaRPr sz="1250" b="0" i="0">
              <a:solidFill>
                <a:srgbClr val="8FB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41448" y="5806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8F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为什么改 → 改了什么 → 结果如何 → 有什么价值：每个创新点都走完了这条链</a:t>
            </a:r>
            <a:endParaRPr sz="1100" b="0" i="0">
              <a:solidFill>
                <a:srgbClr val="6E8F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7040" y="634593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19</a:t>
            </a:r>
            <a:endParaRPr sz="1000" b="1" i="0">
              <a:solidFill>
                <a:srgbClr val="8FB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2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3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4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5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6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7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8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9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0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1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2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3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4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5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6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7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8.xml><?xml version="1.0" encoding="utf-8"?>
<p:tagLst xmlns:p="http://schemas.openxmlformats.org/presentationml/2006/main">
  <p:tag name="KSO_WM_DIAGRAM_VIRTUALLY_FRAME" val="{&quot;height&quot;:442.08000000000004,&quot;left&quot;:344.88,&quot;top&quot;:61.2,&quot;width&quot;:572.4}"/>
</p:tagLst>
</file>

<file path=ppt/tags/tag19.xml><?xml version="1.0" encoding="utf-8"?>
<p:tagLst xmlns:p="http://schemas.openxmlformats.org/presentationml/2006/main">
  <p:tag name="TABLE_ENDDRAG_ORIGIN_RECT" val="729*329"/>
  <p:tag name="TABLE_ENDDRAG_RECT" val="30*109*729*329"/>
</p:tagLst>
</file>

<file path=ppt/tags/tag20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1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2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3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4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5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6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7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8.xml><?xml version="1.0" encoding="utf-8"?>
<p:tagLst xmlns:p="http://schemas.openxmlformats.org/presentationml/2006/main">
  <p:tag name="KSO_WM_DIAGRAM_VIRTUALLY_FRAME" val="{&quot;height&quot;:117.35992125984254,&quot;left&quot;:102.24,&quot;top&quot;:205.2,&quot;width&quot;:763.2}"/>
</p:tagLst>
</file>

<file path=ppt/tags/tag29.xml><?xml version="1.0" encoding="utf-8"?>
<p:tagLst xmlns:p="http://schemas.openxmlformats.org/presentationml/2006/main">
  <p:tag name="commondata" val="eyJoZGlkIjoiMDM2MDdiYjMwYTBmMWUwMzhmMzYxNDM2YTA3OWEwM2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3958</Words>
  <Application>WPS 演示</Application>
  <PresentationFormat>On-screen Show (4:3)</PresentationFormat>
  <Paragraphs>575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Times New Roman</vt:lpstr>
      <vt:lpstr>Calibri</vt:lpstr>
      <vt:lpstr>Arial Unicode MS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林振飞</cp:lastModifiedBy>
  <cp:revision>3</cp:revision>
  <dcterms:created xsi:type="dcterms:W3CDTF">2013-01-27T09:14:00Z</dcterms:created>
  <dcterms:modified xsi:type="dcterms:W3CDTF">2026-09-27T01:32:29Z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59A3DA9CC0E24B70B19390E4E609B018_12</vt:lpwstr>
  </property>
  <property fmtid="{D5CDD505-2E9C-101B-9397-08002B2CF9AE}" pid="3" name="KSOProductBuildVer">
    <vt:lpwstr>2052-12.1.0.16729</vt:lpwstr>
  </property>
</Properties>
</file>